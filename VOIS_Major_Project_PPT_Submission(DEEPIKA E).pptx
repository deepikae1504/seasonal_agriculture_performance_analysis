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B3050E-4E96-4297-BAA4-B9B6C149C255}" v="7" dt="2026-09-05T13:51:34.32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69" d="100"/>
          <a:sy n="69" d="100"/>
        </p:scale>
        <p:origin x="696" y="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0433368" userId="bd8e033e-f428-4daf-ab88-c3e02b741463" providerId="ADAL" clId="{8C150BB2-9218-488B-B012-E3F261622E26}"/>
    <pc:docChg chg="modSld">
      <pc:chgData name="S0433368" userId="bd8e033e-f428-4daf-ab88-c3e02b741463" providerId="ADAL" clId="{8C150BB2-9218-488B-B012-E3F261622E26}" dt="2026-09-05T13:51:34.329" v="6" actId="14100"/>
      <pc:docMkLst>
        <pc:docMk/>
      </pc:docMkLst>
      <pc:sldChg chg="addSp modSp">
        <pc:chgData name="S0433368" userId="bd8e033e-f428-4daf-ab88-c3e02b741463" providerId="ADAL" clId="{8C150BB2-9218-488B-B012-E3F261622E26}" dt="2026-09-05T13:49:07.369" v="2"/>
        <pc:sldMkLst>
          <pc:docMk/>
          <pc:sldMk cId="3863610428" sldId="342"/>
        </pc:sldMkLst>
        <pc:spChg chg="add mod">
          <ac:chgData name="S0433368" userId="bd8e033e-f428-4daf-ab88-c3e02b741463" providerId="ADAL" clId="{8C150BB2-9218-488B-B012-E3F261622E26}" dt="2026-09-05T13:49:07.369" v="2"/>
          <ac:spMkLst>
            <pc:docMk/>
            <pc:sldMk cId="3863610428" sldId="342"/>
            <ac:spMk id="2" creationId="{91550D4B-5423-F6E3-1562-26D56DAC61CC}"/>
          </ac:spMkLst>
        </pc:spChg>
      </pc:sldChg>
      <pc:sldChg chg="addSp modSp">
        <pc:chgData name="S0433368" userId="bd8e033e-f428-4daf-ab88-c3e02b741463" providerId="ADAL" clId="{8C150BB2-9218-488B-B012-E3F261622E26}" dt="2026-09-05T13:51:34.329" v="6" actId="14100"/>
        <pc:sldMkLst>
          <pc:docMk/>
          <pc:sldMk cId="3962802212" sldId="343"/>
        </pc:sldMkLst>
        <pc:graphicFrameChg chg="add mod">
          <ac:chgData name="S0433368" userId="bd8e033e-f428-4daf-ab88-c3e02b741463" providerId="ADAL" clId="{8C150BB2-9218-488B-B012-E3F261622E26}" dt="2026-09-05T13:51:34.329" v="6" actId="14100"/>
          <ac:graphicFrameMkLst>
            <pc:docMk/>
            <pc:sldMk cId="3962802212" sldId="343"/>
            <ac:graphicFrameMk id="2" creationId="{2ACC8578-D95A-F2A0-454C-258A54E83344}"/>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531425" y="3588198"/>
            <a:ext cx="3742211" cy="988271"/>
          </a:xfrm>
        </p:spPr>
        <p:txBody>
          <a:bodyPr vert="horz" lIns="91440" tIns="45720" rIns="91440" bIns="45720" rtlCol="0" anchor="t">
            <a:normAutofit fontScale="92500" lnSpcReduction="20000"/>
          </a:bodyPr>
          <a:lstStyle/>
          <a:p>
            <a:pPr algn="r"/>
            <a:r>
              <a:rPr lang="en-US" b="0" dirty="0">
                <a:solidFill>
                  <a:schemeClr val="tx1"/>
                </a:solidFill>
              </a:rPr>
              <a:t>DEEPIKA E </a:t>
            </a:r>
            <a:endParaRPr lang="en-IN" b="0" dirty="0">
              <a:solidFill>
                <a:schemeClr val="tx1"/>
              </a:solidFill>
            </a:endParaRPr>
          </a:p>
          <a:p>
            <a:pPr algn="r"/>
            <a:r>
              <a:rPr lang="en-US" b="0" dirty="0">
                <a:solidFill>
                  <a:schemeClr val="tx1"/>
                </a:solidFill>
              </a:rPr>
              <a:t>(GRT Institute of Engineering and Technology)</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426545"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312679" y="4533975"/>
            <a:ext cx="5346412" cy="369332"/>
          </a:xfrm>
          <a:prstGeom prst="rect">
            <a:avLst/>
          </a:prstGeom>
          <a:noFill/>
        </p:spPr>
        <p:txBody>
          <a:bodyPr wrap="square" rtlCol="0">
            <a:spAutoFit/>
          </a:bodyPr>
          <a:lstStyle/>
          <a:p>
            <a:r>
              <a:rPr lang="en-US" b="1" dirty="0"/>
              <a:t>AICTE STU ID : </a:t>
            </a:r>
            <a:r>
              <a:rPr lang="en-IN" dirty="0"/>
              <a:t>STU6a53a459d65121783866457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r>
              <a:rPr lang="en-US" sz="1800" b="0" dirty="0">
                <a:latin typeface="+mn-lt"/>
              </a:rPr>
              <a:t>This project is about analyzing a seasonal agriculture dataset which has around 4000 records and 28 columns, covering 3 seasons, 8 states, 8 crops and 4 irrigation methods.</a:t>
            </a:r>
            <a:br>
              <a:rPr lang="en-US" sz="1800" b="0" dirty="0">
                <a:latin typeface="+mn-lt"/>
              </a:rPr>
            </a:br>
            <a:br>
              <a:rPr lang="en-US" sz="1800" b="0" dirty="0">
                <a:latin typeface="+mn-lt"/>
              </a:rPr>
            </a:br>
            <a:r>
              <a:rPr lang="en-US" sz="1800" b="0" dirty="0">
                <a:latin typeface="+mn-lt"/>
              </a:rPr>
              <a:t>    	I first cleaned the dataset (handled missing values, checked duplicates), then did statistical, univariate, bivariate, multivariate and outlier analysis using Python. I used different types of graphs like histograms, boxplots, scatter plots, heatmaps and </a:t>
            </a:r>
            <a:r>
              <a:rPr lang="en-US" sz="1800" b="0" dirty="0" err="1">
                <a:latin typeface="+mn-lt"/>
              </a:rPr>
              <a:t>pairplots</a:t>
            </a:r>
            <a:r>
              <a:rPr lang="en-US" sz="1800" b="0" dirty="0">
                <a:latin typeface="+mn-lt"/>
              </a:rPr>
              <a:t> to understand the data better.</a:t>
            </a:r>
            <a:br>
              <a:rPr lang="en-US" sz="1800" b="0" dirty="0">
                <a:latin typeface="+mn-lt"/>
              </a:rPr>
            </a:br>
            <a:br>
              <a:rPr lang="en-US" sz="1800" b="0" dirty="0">
                <a:latin typeface="+mn-lt"/>
              </a:rPr>
            </a:br>
            <a:r>
              <a:rPr lang="en-US" sz="1800" b="0" dirty="0">
                <a:latin typeface="+mn-lt"/>
              </a:rPr>
              <a:t>  		The main aim was to compare yield, profit, water usage and disease/pest risk across the 3 seasons, and also check how factors like irrigation method, crop type and rainfall affect the </a:t>
            </a:r>
            <a:br>
              <a:rPr lang="en-US" sz="1800" b="0" dirty="0">
                <a:latin typeface="+mn-lt"/>
              </a:rPr>
            </a:br>
            <a:r>
              <a:rPr lang="en-US" sz="1800" b="0" dirty="0">
                <a:latin typeface="+mn-lt"/>
              </a:rPr>
              <a:t>results. At the end I wrote conclusions and some recommendations based on what I found.</a:t>
            </a:r>
            <a:endParaRPr lang="en-IN" b="0" dirty="0">
              <a:latin typeface="+mn-lt"/>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t>- Farmers, who can use these insights to choose better crops and irrigation methods for each season</a:t>
            </a:r>
          </a:p>
          <a:p>
            <a:pPr algn="just">
              <a:lnSpc>
                <a:spcPct val="150000"/>
              </a:lnSpc>
            </a:pPr>
            <a:r>
              <a:rPr lang="en-US" sz="3600" dirty="0"/>
              <a:t>- Agriculture department / government officials, for planning seasonal support and subsidies</a:t>
            </a:r>
          </a:p>
          <a:p>
            <a:pPr algn="just">
              <a:lnSpc>
                <a:spcPct val="150000"/>
              </a:lnSpc>
            </a:pPr>
            <a:r>
              <a:rPr lang="en-US" sz="3600" dirty="0"/>
              <a:t>- Agri-business and supply chain companies, to plan resources according to seasonal trends</a:t>
            </a:r>
          </a:p>
          <a:p>
            <a:pPr algn="just">
              <a:lnSpc>
                <a:spcPct val="150000"/>
              </a:lnSpc>
            </a:pPr>
            <a:r>
              <a:rPr lang="en-US" sz="3600" dirty="0"/>
              <a:t>- Researchers and students, who want to study seasonal patterns in agriculture data</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315059"/>
            <a:ext cx="9027702" cy="5243448"/>
          </a:xfrm>
        </p:spPr>
        <p:txBody>
          <a:bodyPr/>
          <a:lstStyle/>
          <a:p>
            <a:pPr lvl="1">
              <a:lnSpc>
                <a:spcPct val="150000"/>
              </a:lnSpc>
            </a:pPr>
            <a:r>
              <a:rPr lang="en-IN" dirty="0"/>
              <a:t>- Python</a:t>
            </a:r>
          </a:p>
          <a:p>
            <a:pPr lvl="1">
              <a:lnSpc>
                <a:spcPct val="150000"/>
              </a:lnSpc>
            </a:pPr>
            <a:r>
              <a:rPr lang="en-IN" dirty="0"/>
              <a:t>- Google </a:t>
            </a:r>
            <a:r>
              <a:rPr lang="en-IN" dirty="0" err="1"/>
              <a:t>Colab</a:t>
            </a:r>
            <a:endParaRPr lang="en-IN" dirty="0"/>
          </a:p>
          <a:p>
            <a:pPr lvl="1">
              <a:lnSpc>
                <a:spcPct val="150000"/>
              </a:lnSpc>
            </a:pPr>
            <a:r>
              <a:rPr lang="en-IN" dirty="0"/>
              <a:t>- Pandas (data cleaning and analysis)</a:t>
            </a:r>
          </a:p>
          <a:p>
            <a:pPr lvl="1">
              <a:lnSpc>
                <a:spcPct val="150000"/>
              </a:lnSpc>
            </a:pPr>
            <a:r>
              <a:rPr lang="en-IN" dirty="0"/>
              <a:t>- NumPy (numerical operations)</a:t>
            </a:r>
          </a:p>
          <a:p>
            <a:pPr lvl="1">
              <a:lnSpc>
                <a:spcPct val="150000"/>
              </a:lnSpc>
            </a:pPr>
            <a:r>
              <a:rPr lang="en-IN" dirty="0"/>
              <a:t>- Matplotlib and Seaborn (data visualization)</a:t>
            </a:r>
          </a:p>
          <a:p>
            <a:pPr lvl="1">
              <a:lnSpc>
                <a:spcPct val="150000"/>
              </a:lnSpc>
            </a:pPr>
            <a:r>
              <a:rPr lang="en-IN" dirty="0"/>
              <a:t>- CSV dataset (seasonal_agriculture_performance_dataset.csv)</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93860" y="1255905"/>
            <a:ext cx="8364545" cy="477520"/>
          </a:xfrm>
        </p:spPr>
        <p:txBody>
          <a:bodyPr vert="horz" lIns="91440" tIns="45720" rIns="91440" bIns="45720" rtlCol="0" anchor="t">
            <a:noAutofit/>
          </a:bodyPr>
          <a:lstStyle/>
          <a:p>
            <a:pPr marL="0" indent="0">
              <a:buNone/>
            </a:pPr>
            <a:r>
              <a:rPr lang="en-IN" sz="1600" dirty="0"/>
              <a:t>Kharif season shows the highest average yield and profit, while Zaid season shows a loss on average.</a:t>
            </a:r>
          </a:p>
        </p:txBody>
      </p:sp>
      <p:pic>
        <p:nvPicPr>
          <p:cNvPr id="2" name="Picture 1">
            <a:extLst>
              <a:ext uri="{FF2B5EF4-FFF2-40B4-BE49-F238E27FC236}">
                <a16:creationId xmlns:a16="http://schemas.microsoft.com/office/drawing/2014/main" id="{74A0E7FA-69DA-27A7-B168-E12561D9A8C2}"/>
              </a:ext>
            </a:extLst>
          </p:cNvPr>
          <p:cNvPicPr>
            <a:picLocks noChangeAspect="1"/>
          </p:cNvPicPr>
          <p:nvPr/>
        </p:nvPicPr>
        <p:blipFill>
          <a:blip r:embed="rId3"/>
          <a:stretch>
            <a:fillRect/>
          </a:stretch>
        </p:blipFill>
        <p:spPr>
          <a:xfrm>
            <a:off x="411840" y="2065535"/>
            <a:ext cx="4464293" cy="3666522"/>
          </a:xfrm>
          <a:prstGeom prst="rect">
            <a:avLst/>
          </a:prstGeom>
        </p:spPr>
      </p:pic>
      <p:pic>
        <p:nvPicPr>
          <p:cNvPr id="3" name="Picture 2">
            <a:extLst>
              <a:ext uri="{FF2B5EF4-FFF2-40B4-BE49-F238E27FC236}">
                <a16:creationId xmlns:a16="http://schemas.microsoft.com/office/drawing/2014/main" id="{F82C01DA-BB00-E6C8-C41D-C5A2EED68BA3}"/>
              </a:ext>
            </a:extLst>
          </p:cNvPr>
          <p:cNvPicPr>
            <a:picLocks noChangeAspect="1"/>
          </p:cNvPicPr>
          <p:nvPr/>
        </p:nvPicPr>
        <p:blipFill>
          <a:blip r:embed="rId4"/>
          <a:stretch>
            <a:fillRect/>
          </a:stretch>
        </p:blipFill>
        <p:spPr>
          <a:xfrm>
            <a:off x="5121230" y="2234528"/>
            <a:ext cx="4389278" cy="332853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3" y="1431693"/>
            <a:ext cx="8960291" cy="477520"/>
          </a:xfrm>
        </p:spPr>
        <p:txBody>
          <a:bodyPr>
            <a:noAutofit/>
          </a:bodyPr>
          <a:lstStyle/>
          <a:p>
            <a:pPr marL="0" indent="0">
              <a:buNone/>
            </a:pPr>
            <a:r>
              <a:rPr lang="en-IN" sz="1800" dirty="0"/>
              <a:t>Yield, Profit and Production columns are right-skewed, meaning a few farms have very high values compared to most others.</a:t>
            </a:r>
          </a:p>
        </p:txBody>
      </p:sp>
      <p:pic>
        <p:nvPicPr>
          <p:cNvPr id="2" name="Picture 1">
            <a:extLst>
              <a:ext uri="{FF2B5EF4-FFF2-40B4-BE49-F238E27FC236}">
                <a16:creationId xmlns:a16="http://schemas.microsoft.com/office/drawing/2014/main" id="{BCEDC8AB-C815-CBB3-0DBE-F51DD459993B}"/>
              </a:ext>
            </a:extLst>
          </p:cNvPr>
          <p:cNvPicPr>
            <a:picLocks noChangeAspect="1"/>
          </p:cNvPicPr>
          <p:nvPr/>
        </p:nvPicPr>
        <p:blipFill>
          <a:blip r:embed="rId3"/>
          <a:stretch>
            <a:fillRect/>
          </a:stretch>
        </p:blipFill>
        <p:spPr>
          <a:xfrm>
            <a:off x="1747519" y="2015234"/>
            <a:ext cx="5303531" cy="416052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431693"/>
            <a:ext cx="9112691" cy="477520"/>
          </a:xfrm>
        </p:spPr>
        <p:txBody>
          <a:bodyPr>
            <a:noAutofit/>
          </a:bodyPr>
          <a:lstStyle/>
          <a:p>
            <a:pPr marL="0" indent="0">
              <a:buNone/>
            </a:pPr>
            <a:r>
              <a:rPr lang="en-IN" sz="1800" dirty="0"/>
              <a:t>Yield is most strongly related to </a:t>
            </a:r>
            <a:r>
              <a:rPr lang="en-IN" sz="1800" dirty="0" err="1"/>
              <a:t>Water_Efficiency</a:t>
            </a:r>
            <a:r>
              <a:rPr lang="en-IN" sz="1800" dirty="0"/>
              <a:t> and Production, while factors like rainfall alone don't show strong correlation.</a:t>
            </a:r>
          </a:p>
        </p:txBody>
      </p:sp>
      <p:pic>
        <p:nvPicPr>
          <p:cNvPr id="2" name="Picture 1">
            <a:extLst>
              <a:ext uri="{FF2B5EF4-FFF2-40B4-BE49-F238E27FC236}">
                <a16:creationId xmlns:a16="http://schemas.microsoft.com/office/drawing/2014/main" id="{3D2E176C-644B-E320-36A0-79CD662876B0}"/>
              </a:ext>
            </a:extLst>
          </p:cNvPr>
          <p:cNvPicPr>
            <a:picLocks noChangeAspect="1"/>
          </p:cNvPicPr>
          <p:nvPr/>
        </p:nvPicPr>
        <p:blipFill>
          <a:blip r:embed="rId3"/>
          <a:stretch>
            <a:fillRect/>
          </a:stretch>
        </p:blipFill>
        <p:spPr>
          <a:xfrm>
            <a:off x="1992762" y="2406872"/>
            <a:ext cx="4751546" cy="408053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8392254" cy="477520"/>
          </a:xfrm>
        </p:spPr>
        <p:txBody>
          <a:bodyPr>
            <a:noAutofit/>
          </a:bodyPr>
          <a:lstStyle/>
          <a:p>
            <a:pPr marL="0" indent="0">
              <a:buNone/>
            </a:pPr>
            <a:r>
              <a:rPr lang="en-IN" sz="1800" dirty="0"/>
              <a:t>Drip irrigation gives the best average yield, and cash crops like Sugarcane and Chilli are more profitable than staple crops like Rice and Wheat.</a:t>
            </a:r>
          </a:p>
        </p:txBody>
      </p:sp>
      <p:pic>
        <p:nvPicPr>
          <p:cNvPr id="2" name="Picture 1">
            <a:extLst>
              <a:ext uri="{FF2B5EF4-FFF2-40B4-BE49-F238E27FC236}">
                <a16:creationId xmlns:a16="http://schemas.microsoft.com/office/drawing/2014/main" id="{B4DE9589-3130-463C-2252-E35C136F5DF9}"/>
              </a:ext>
            </a:extLst>
          </p:cNvPr>
          <p:cNvPicPr>
            <a:picLocks noChangeAspect="1"/>
          </p:cNvPicPr>
          <p:nvPr/>
        </p:nvPicPr>
        <p:blipFill>
          <a:blip r:embed="rId3"/>
          <a:stretch>
            <a:fillRect/>
          </a:stretch>
        </p:blipFill>
        <p:spPr>
          <a:xfrm>
            <a:off x="675957" y="2502645"/>
            <a:ext cx="9154393" cy="322941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258229"/>
            <a:ext cx="8863309" cy="477520"/>
          </a:xfrm>
        </p:spPr>
        <p:txBody>
          <a:bodyPr>
            <a:noAutofit/>
          </a:bodyPr>
          <a:lstStyle/>
          <a:p>
            <a:pPr marL="0" indent="0">
              <a:buNone/>
            </a:pPr>
            <a:r>
              <a:rPr lang="en-IN" sz="1800" dirty="0"/>
              <a:t>Yield, Profit, Production and </a:t>
            </a:r>
            <a:r>
              <a:rPr lang="en-IN" sz="1800" dirty="0" err="1"/>
              <a:t>Water_Efficiency</a:t>
            </a:r>
            <a:r>
              <a:rPr lang="en-IN" sz="1800" dirty="0"/>
              <a:t> have the most outliers, matching their high skewness values found earlier.</a:t>
            </a:r>
          </a:p>
        </p:txBody>
      </p:sp>
      <p:pic>
        <p:nvPicPr>
          <p:cNvPr id="3" name="Picture 2">
            <a:extLst>
              <a:ext uri="{FF2B5EF4-FFF2-40B4-BE49-F238E27FC236}">
                <a16:creationId xmlns:a16="http://schemas.microsoft.com/office/drawing/2014/main" id="{C52BE7E3-D4FE-1B96-2AB1-8CA37054B5F6}"/>
              </a:ext>
            </a:extLst>
          </p:cNvPr>
          <p:cNvPicPr>
            <a:picLocks noChangeAspect="1"/>
          </p:cNvPicPr>
          <p:nvPr/>
        </p:nvPicPr>
        <p:blipFill>
          <a:blip r:embed="rId3"/>
          <a:stretch>
            <a:fillRect/>
          </a:stretch>
        </p:blipFill>
        <p:spPr>
          <a:xfrm>
            <a:off x="1209297" y="2097771"/>
            <a:ext cx="7034159" cy="458433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49A008A-C654-5799-B77E-61C3A0C403A1}"/>
              </a:ext>
            </a:extLst>
          </p:cNvPr>
          <p:cNvSpPr txBox="1"/>
          <p:nvPr/>
        </p:nvSpPr>
        <p:spPr>
          <a:xfrm>
            <a:off x="1326608" y="1482435"/>
            <a:ext cx="5448266" cy="3785652"/>
          </a:xfrm>
          <a:prstGeom prst="rect">
            <a:avLst/>
          </a:prstGeom>
          <a:noFill/>
        </p:spPr>
        <p:txBody>
          <a:bodyPr wrap="square" rtlCol="0">
            <a:spAutoFit/>
          </a:bodyPr>
          <a:lstStyle/>
          <a:p>
            <a:pPr marL="342900" indent="-342900">
              <a:buFont typeface="Wingdings" panose="05000000000000000000" pitchFamily="2" charset="2"/>
              <a:buChar char="q"/>
            </a:pPr>
            <a:r>
              <a:rPr lang="en-US" sz="2000" dirty="0"/>
              <a:t>- This analysis can be extended with multiple years of data to study long term seasonal  trends, not just one snapshot</a:t>
            </a:r>
          </a:p>
          <a:p>
            <a:pPr marL="342900" indent="-342900">
              <a:buFont typeface="Wingdings" panose="05000000000000000000" pitchFamily="2" charset="2"/>
              <a:buChar char="q"/>
            </a:pPr>
            <a:r>
              <a:rPr lang="en-US" sz="2000" dirty="0"/>
              <a:t>- Machine learning models can be built to predict yield or profit based on season, crop  and weather conditions</a:t>
            </a:r>
          </a:p>
          <a:p>
            <a:pPr marL="342900" indent="-342900">
              <a:buFont typeface="Wingdings" panose="05000000000000000000" pitchFamily="2" charset="2"/>
              <a:buChar char="q"/>
            </a:pPr>
            <a:r>
              <a:rPr lang="en-US" sz="2000" dirty="0"/>
              <a:t>- The outlier/high-performing farms can be studied in more detail to find best practices that other farmers can follow</a:t>
            </a:r>
          </a:p>
          <a:p>
            <a:pPr marL="342900" indent="-342900">
              <a:buFont typeface="Wingdings" panose="05000000000000000000" pitchFamily="2" charset="2"/>
              <a:buChar char="q"/>
            </a:pPr>
            <a:r>
              <a:rPr lang="en-US" sz="2000" dirty="0"/>
              <a:t>- A dashboard can be built so that farmers or officials can check seasonal insights easily without needing to run code</a:t>
            </a:r>
            <a:endParaRPr lang="en-IN"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91550D4B-5423-F6E3-1562-26D56DAC61CC}"/>
              </a:ext>
            </a:extLst>
          </p:cNvPr>
          <p:cNvSpPr txBox="1"/>
          <p:nvPr/>
        </p:nvSpPr>
        <p:spPr>
          <a:xfrm>
            <a:off x="1031389" y="2673926"/>
            <a:ext cx="8846902" cy="369332"/>
          </a:xfrm>
          <a:prstGeom prst="rect">
            <a:avLst/>
          </a:prstGeom>
          <a:noFill/>
        </p:spPr>
        <p:txBody>
          <a:bodyPr wrap="square" rtlCol="0">
            <a:spAutoFit/>
          </a:bodyPr>
          <a:lstStyle/>
          <a:p>
            <a:r>
              <a:rPr lang="en-IN" dirty="0"/>
              <a:t>https://github.com/deepikae1504/Seasonal_agriculture_performance_analysis.git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2ACC8578-D95A-F2A0-454C-258A54E83344}"/>
              </a:ext>
            </a:extLst>
          </p:cNvPr>
          <p:cNvGraphicFramePr>
            <a:graphicFrameLocks noChangeAspect="1"/>
          </p:cNvGraphicFramePr>
          <p:nvPr>
            <p:extLst>
              <p:ext uri="{D42A27DB-BD31-4B8C-83A1-F6EECF244321}">
                <p14:modId xmlns:p14="http://schemas.microsoft.com/office/powerpoint/2010/main" val="3551737008"/>
              </p:ext>
            </p:extLst>
          </p:nvPr>
        </p:nvGraphicFramePr>
        <p:xfrm>
          <a:off x="1648691" y="1608410"/>
          <a:ext cx="6629256" cy="4684569"/>
        </p:xfrm>
        <a:graphic>
          <a:graphicData uri="http://schemas.openxmlformats.org/presentationml/2006/ole">
            <mc:AlternateContent xmlns:mc="http://schemas.openxmlformats.org/markup-compatibility/2006">
              <mc:Choice xmlns:v="urn:schemas-microsoft-com:vml" Requires="v">
                <p:oleObj name="Acrobat Document" r:id="rId3" imgW="8019753" imgH="5667178" progId="Acrobat.Document.DC">
                  <p:embed/>
                </p:oleObj>
              </mc:Choice>
              <mc:Fallback>
                <p:oleObj name="Acrobat Document" r:id="rId3" imgW="8019753" imgH="5667178" progId="Acrobat.Document.DC">
                  <p:embed/>
                  <p:pic>
                    <p:nvPicPr>
                      <p:cNvPr id="0" name=""/>
                      <p:cNvPicPr/>
                      <p:nvPr/>
                    </p:nvPicPr>
                    <p:blipFill>
                      <a:blip r:embed="rId4"/>
                      <a:stretch>
                        <a:fillRect/>
                      </a:stretch>
                    </p:blipFill>
                    <p:spPr>
                      <a:xfrm>
                        <a:off x="1648691" y="1608410"/>
                        <a:ext cx="6629256" cy="4684569"/>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E453084D1406741856F7CDF9110FD1E" ma:contentTypeVersion="4" ma:contentTypeDescription="Create a new document." ma:contentTypeScope="" ma:versionID="e68e39cb72360ef4db2097eb2d6a894f">
  <xsd:schema xmlns:xsd="http://www.w3.org/2001/XMLSchema" xmlns:xs="http://www.w3.org/2001/XMLSchema" xmlns:p="http://schemas.microsoft.com/office/2006/metadata/properties" xmlns:ns3="e6b3199f-b8d3-434a-857d-c7697354613d" targetNamespace="http://schemas.microsoft.com/office/2006/metadata/properties" ma:root="true" ma:fieldsID="909ceb2cbc26358029a5ddaf5b4ef6aa" ns3:_="">
    <xsd:import namespace="e6b3199f-b8d3-434a-857d-c7697354613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b3199f-b8d3-434a-857d-c7697354613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purl.org/dc/elements/1.1/"/>
    <ds:schemaRef ds:uri="http://schemas.openxmlformats.org/package/2006/metadata/core-properties"/>
    <ds:schemaRef ds:uri="http://www.w3.org/XML/1998/namespace"/>
    <ds:schemaRef ds:uri="http://purl.org/dc/terms/"/>
    <ds:schemaRef ds:uri="http://purl.org/dc/dcmitype/"/>
    <ds:schemaRef ds:uri="http://schemas.microsoft.com/office/2006/metadata/properties"/>
    <ds:schemaRef ds:uri="http://schemas.microsoft.com/office/infopath/2007/PartnerControls"/>
    <ds:schemaRef ds:uri="e6b3199f-b8d3-434a-857d-c7697354613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3A0A2ABE-A13A-432F-8F56-CE7775BECE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b3199f-b8d3-434a-857d-c769735461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595</TotalTime>
  <Words>608</Words>
  <Application>Microsoft Office PowerPoint</Application>
  <PresentationFormat>Widescreen</PresentationFormat>
  <Paragraphs>41</Paragraphs>
  <Slides>14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Trebuchet MS</vt:lpstr>
      <vt:lpstr>Wingdings</vt:lpstr>
      <vt:lpstr>Wingdings 3</vt:lpstr>
      <vt:lpstr>Facet</vt:lpstr>
      <vt:lpstr>Adobe Acrobat Document</vt:lpstr>
      <vt:lpstr>Seasonal Agriculture Performance Analysis</vt:lpstr>
      <vt:lpstr>PROBLEM  STATEMENT</vt:lpstr>
      <vt:lpstr>Project Description:       This project is about analyzing a seasonal agriculture dataset which has around 4000 records and 28 columns, covering 3 seasons, 8 states, 8 crops and 4 irrigation methods.       I first cleaned the dataset (handled missing values, checked duplicates), then did statistical, univariate, bivariate, multivariate and outlier analysis using Python. I used different types of graphs like histograms, boxplots, scatter plots, heatmaps and pairplots to understand the data better.      The main aim was to compare yield, profit, water usage and disease/pest risk across the 3 seasons, and also check how factors like irrigation method, crop type and rainfall affect the  results. At the end I wrote conclusions and some recommendations based on what I found.</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S0433368</cp:lastModifiedBy>
  <cp:revision>98</cp:revision>
  <dcterms:created xsi:type="dcterms:W3CDTF">2021-07-11T13:13:15Z</dcterms:created>
  <dcterms:modified xsi:type="dcterms:W3CDTF">2026-09-05T13:53:27Z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0x0101002E453084D1406741856F7CDF9110FD1E</vt:lpwstr>
  </property>
</Properties>
</file>